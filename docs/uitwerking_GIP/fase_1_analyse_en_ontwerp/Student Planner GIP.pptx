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sldIdLst>
    <p:sldId id="256" r:id="rId3"/>
    <p:sldId id="257" r:id="rId4"/>
    <p:sldId id="259" r:id="rId5"/>
    <p:sldId id="260" r:id="rId6"/>
    <p:sldId id="261" r:id="rId7"/>
    <p:sldId id="267" r:id="rId8"/>
    <p:sldId id="268" r:id="rId9"/>
    <p:sldId id="269" r:id="rId10"/>
    <p:sldId id="263" r:id="rId11"/>
    <p:sldId id="265" r:id="rId12"/>
    <p:sldId id="270" r:id="rId13"/>
    <p:sldId id="271" r:id="rId14"/>
    <p:sldId id="266" r:id="rId15"/>
  </p:sldIdLst>
  <p:sldSz cx="9144000" cy="5143500" type="screen16x9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 Angeli" userId="76e3c2416685316d" providerId="LiveId" clId="{9C702068-EE99-45E8-8B5F-294DEB6B9A46}"/>
    <pc:docChg chg="undo custSel addSld modSld">
      <pc:chgData name="Raf Angeli" userId="76e3c2416685316d" providerId="LiveId" clId="{9C702068-EE99-45E8-8B5F-294DEB6B9A46}" dt="2026-06-08T08:47:00.837" v="941" actId="20577"/>
      <pc:docMkLst>
        <pc:docMk/>
      </pc:docMkLst>
      <pc:sldChg chg="addSp delSp modSp mod">
        <pc:chgData name="Raf Angeli" userId="76e3c2416685316d" providerId="LiveId" clId="{9C702068-EE99-45E8-8B5F-294DEB6B9A46}" dt="2026-06-08T08:47:00.837" v="941" actId="20577"/>
        <pc:sldMkLst>
          <pc:docMk/>
          <pc:sldMk cId="0" sldId="260"/>
        </pc:sldMkLst>
        <pc:spChg chg="add mod">
          <ac:chgData name="Raf Angeli" userId="76e3c2416685316d" providerId="LiveId" clId="{9C702068-EE99-45E8-8B5F-294DEB6B9A46}" dt="2026-06-08T08:47:00.837" v="941" actId="20577"/>
          <ac:spMkLst>
            <pc:docMk/>
            <pc:sldMk cId="0" sldId="260"/>
            <ac:spMk id="2" creationId="{0B8048C1-78B0-46AD-8647-B95FCAF74B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2"/>
          <a:srcRect r="1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173560" cy="308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3;p11"/>
          <p:cNvPicPr/>
          <p:nvPr/>
        </p:nvPicPr>
        <p:blipFill>
          <a:blip r:embed="rId2"/>
          <a:srcRect r="1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283400"/>
            <a:ext cx="5528520" cy="171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4044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219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045320" y="12780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045320" y="219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12783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121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045320" y="3121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4045320" y="4044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25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66;p14"/>
          <p:cNvPicPr/>
          <p:nvPr/>
        </p:nvPicPr>
        <p:blipFill>
          <a:blip r:embed="rId2"/>
          <a:srcRect r="1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41240" cy="445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313920" y="1400040"/>
            <a:ext cx="3764520" cy="351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4;p16"/>
          <p:cNvPicPr/>
          <p:nvPr/>
        </p:nvPicPr>
        <p:blipFill>
          <a:blip r:embed="rId2"/>
          <a:srcRect r="1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95;p19"/>
          <p:cNvPicPr/>
          <p:nvPr/>
        </p:nvPicPr>
        <p:blipFill>
          <a:blip r:embed="rId2"/>
          <a:srcRect r="1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1438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Google Shape;98;p19"/>
          <p:cNvSpPr/>
          <p:nvPr/>
        </p:nvSpPr>
        <p:spPr>
          <a:xfrm>
            <a:off x="228600" y="3683880"/>
            <a:ext cx="42541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  <a:hlinkClick r:id="rId4"/>
              </a:rPr>
              <a:t>Freepik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100;p20"/>
          <p:cNvPicPr/>
          <p:nvPr/>
        </p:nvPicPr>
        <p:blipFill>
          <a:blip r:embed="rId2"/>
          <a:srcRect r="1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3;p3"/>
          <p:cNvPicPr/>
          <p:nvPr/>
        </p:nvPicPr>
        <p:blipFill>
          <a:blip r:embed="rId2"/>
          <a:srcRect t="4662" r="4679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899520" y="228600"/>
            <a:ext cx="501552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7263360" y="3910680"/>
            <a:ext cx="1651680" cy="97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15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02;p21"/>
          <p:cNvPicPr/>
          <p:nvPr/>
        </p:nvPicPr>
        <p:blipFill>
          <a:blip r:embed="rId2"/>
          <a:srcRect t="4662" r="4679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5576400" y="3288240"/>
            <a:ext cx="2530080" cy="5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5175720" y="1336320"/>
            <a:ext cx="3255120" cy="298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3;p8"/>
          <p:cNvPicPr/>
          <p:nvPr/>
        </p:nvPicPr>
        <p:blipFill>
          <a:blip r:embed="rId2"/>
          <a:srcRect t="4662" r="4679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36;p9"/>
          <p:cNvPicPr/>
          <p:nvPr/>
        </p:nvPicPr>
        <p:blipFill>
          <a:blip r:embed="rId2"/>
          <a:srcRect t="4662" r="4679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524040" y="1655640"/>
            <a:ext cx="487260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8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1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17176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6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Student T</a:t>
            </a:r>
            <a:r>
              <a:rPr lang="en-US" sz="6000" b="1" dirty="0">
                <a:solidFill>
                  <a:schemeClr val="dk1"/>
                </a:solidFill>
                <a:latin typeface="Rethink Sans"/>
                <a:ea typeface="Rethink Sans"/>
              </a:rPr>
              <a:t>racker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228600" y="3467160"/>
            <a:ext cx="5171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Helpt studenten taken beheren en plannen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51" name="Google Shape;120;p26"/>
          <p:cNvCxnSpPr/>
          <p:nvPr/>
        </p:nvCxnSpPr>
        <p:spPr>
          <a:xfrm>
            <a:off x="313560" y="3316680"/>
            <a:ext cx="42922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09CF64FC-7AD8-330D-06A7-3F84A456ED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102" y="765642"/>
            <a:ext cx="3425298" cy="3425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Inleiding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4" name="Google Shape;206;p31"/>
          <p:cNvPicPr/>
          <p:nvPr/>
        </p:nvPicPr>
        <p:blipFill>
          <a:blip r:embed="rId2"/>
          <a:srcRect l="14301" r="14301"/>
          <a:stretch/>
        </p:blipFill>
        <p:spPr>
          <a:xfrm>
            <a:off x="313920" y="1400040"/>
            <a:ext cx="37648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5" name="Google Shape;207;p31"/>
          <p:cNvCxnSpPr/>
          <p:nvPr/>
        </p:nvCxnSpPr>
        <p:spPr>
          <a:xfrm>
            <a:off x="313560" y="957240"/>
            <a:ext cx="85186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DC262D8-EB5C-1F06-CCCB-2786B4A0A43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571820" y="1323940"/>
            <a:ext cx="41384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nl-BE" altLang="nl-BE" sz="1800" dirty="0">
                <a:latin typeface="Arial" panose="020B0604020202020204" pitchFamily="34" charset="0"/>
              </a:rPr>
              <a:t> P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robleemstelling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nl-BE" altLang="nl-BE" sz="1800" dirty="0">
                <a:latin typeface="Arial" panose="020B0604020202020204" pitchFamily="34" charset="0"/>
              </a:rPr>
              <a:t> Doel</a:t>
            </a: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nl-BE" altLang="nl-BE" sz="1800" dirty="0">
                <a:latin typeface="Arial" panose="020B0604020202020204" pitchFamily="34" charset="0"/>
              </a:rPr>
              <a:t> Doelgroep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nl-BE" altLang="nl-BE" sz="1800" dirty="0">
                <a:latin typeface="Arial" panose="020B0604020202020204" pitchFamily="34" charset="0"/>
              </a:rPr>
              <a:t>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nl-BE" altLang="nl-BE" sz="1800" dirty="0">
                <a:latin typeface="Arial" panose="020B0604020202020204" pitchFamily="34" charset="0"/>
              </a:rPr>
              <a:t> Functies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nl-BE" altLang="nl-BE" sz="1800" dirty="0">
                <a:latin typeface="Arial" panose="020B0604020202020204" pitchFamily="34" charset="0"/>
              </a:rPr>
              <a:t> </a:t>
            </a:r>
            <a:r>
              <a:rPr lang="nl-BE" altLang="nl-BE" sz="1800" dirty="0" err="1">
                <a:latin typeface="Arial" panose="020B0604020202020204" pitchFamily="34" charset="0"/>
              </a:rPr>
              <a:t>Wireframes</a:t>
            </a:r>
            <a:r>
              <a:rPr lang="nl-BE" altLang="nl-BE" sz="1800" dirty="0">
                <a:latin typeface="Arial" panose="020B0604020202020204" pitchFamily="34" charset="0"/>
              </a:rPr>
              <a:t> &amp; ERD</a:t>
            </a: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-118341" y="228420"/>
            <a:ext cx="4053468" cy="99023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dirty="0" err="1">
                <a:solidFill>
                  <a:schemeClr val="dk1"/>
                </a:solidFill>
                <a:latin typeface="Rethink Sans"/>
                <a:ea typeface="Rethink Sans"/>
              </a:rPr>
              <a:t>P</a:t>
            </a:r>
            <a:r>
              <a:rPr lang="en-US" sz="4000" b="1" u="none" strike="noStrike" dirty="0" err="1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robleemstelling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FB2BA1E-9B21-B27C-ACDB-4C3C991A1EC2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714922" y="1168218"/>
            <a:ext cx="385143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Veel taken + strenge deadlines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nl-BE" altLang="nl-B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Geen goed overzicht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nl-BE" altLang="nl-B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Taken vergeten of te laat inleveren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nl-BE" altLang="nl-B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Stress </a:t>
            </a:r>
          </a:p>
        </p:txBody>
      </p:sp>
      <p:pic>
        <p:nvPicPr>
          <p:cNvPr id="6" name="Afbeelding 5" descr="Afbeelding met handschrift, schoolbord, Lettertype, zwart-wit&#10;&#10;Door AI gegenereerde inhoud is mogelijk onjuist.">
            <a:extLst>
              <a:ext uri="{FF2B5EF4-FFF2-40B4-BE49-F238E27FC236}">
                <a16:creationId xmlns:a16="http://schemas.microsoft.com/office/drawing/2014/main" id="{FA25EC21-CA97-1D27-3A83-AAB18A96D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05" y="1422988"/>
            <a:ext cx="4170920" cy="2950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Doel van de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applicatie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5" name="Google Shape;206;p31"/>
          <p:cNvPicPr/>
          <p:nvPr/>
        </p:nvPicPr>
        <p:blipFill>
          <a:blip r:embed="rId2"/>
          <a:srcRect l="14301" r="14301"/>
          <a:stretch/>
        </p:blipFill>
        <p:spPr>
          <a:xfrm>
            <a:off x="313920" y="1400040"/>
            <a:ext cx="37648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6" name="Google Shape;207;p31"/>
          <p:cNvCxnSpPr/>
          <p:nvPr/>
        </p:nvCxnSpPr>
        <p:spPr>
          <a:xfrm>
            <a:off x="313560" y="957240"/>
            <a:ext cx="85186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0B8048C1-78B0-46AD-8647-B95FCAF74B9D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D7702154-C83F-6BA8-4EEC-4AA899A5A16E}"/>
              </a:ext>
            </a:extLst>
          </p:cNvPr>
          <p:cNvSpPr txBox="1"/>
          <p:nvPr/>
        </p:nvSpPr>
        <p:spPr>
          <a:xfrm>
            <a:off x="4571820" y="1847314"/>
            <a:ext cx="425826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400" dirty="0">
                <a:latin typeface="Arial" panose="020B0604020202020204" pitchFamily="34" charset="0"/>
              </a:rPr>
              <a:t>Gebruiksvriendelijke </a:t>
            </a:r>
            <a:r>
              <a:rPr lang="nl-BE" altLang="nl-BE" sz="1400" dirty="0" err="1">
                <a:latin typeface="Arial" panose="020B0604020202020204" pitchFamily="34" charset="0"/>
              </a:rPr>
              <a:t>webomgeving</a:t>
            </a:r>
            <a:r>
              <a:rPr lang="nl-BE" altLang="nl-BE" sz="1400" dirty="0">
                <a:latin typeface="Arial" panose="020B0604020202020204" pitchFamily="34" charset="0"/>
              </a:rPr>
              <a:t> voor studenten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nl-BE" altLang="nl-BE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nl-BE" altLang="nl-BE" sz="1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400" dirty="0">
                <a:latin typeface="Arial" panose="020B0604020202020204" pitchFamily="34" charset="0"/>
              </a:rPr>
              <a:t>Taken eenvoudig toevoegen, bekijken, aanpassen en deleten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nl-BE" altLang="nl-BE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nl-BE" altLang="nl-BE" sz="1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400" dirty="0">
                <a:latin typeface="Arial" panose="020B0604020202020204" pitchFamily="34" charset="0"/>
              </a:rPr>
              <a:t>Helpt bij het behouden van overzicht over opdrachten en deadlines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nl-BE" altLang="nl-BE" sz="1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nl-BE" altLang="nl-BE" sz="1400" dirty="0">
              <a:latin typeface="Arial" panose="020B0604020202020204" pitchFamily="34" charset="0"/>
            </a:endParaRPr>
          </a:p>
          <a:p>
            <a:endParaRPr lang="nl-B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120268" y="-3226399"/>
            <a:ext cx="3438000" cy="444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u="none" strike="noStrike" dirty="0" err="1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Doelgroep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C5C0D35-5FF6-3C91-DF7B-8A67D07F130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52579" y="1806696"/>
            <a:ext cx="323999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Gericht op studenten.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nl-BE" altLang="nl-B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Biedt duidelijk taakoverzicht.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nl-BE" altLang="nl-B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Taken eenvoudig beheren.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nl-BE" altLang="nl-B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AD9A681-D05D-AD04-C4FC-6AE42E650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780" y="1523999"/>
            <a:ext cx="4348976" cy="2899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8DC1-825D-4DC2-79D4-C04DF45FB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26B71C0F-0CA1-B5EA-C1C3-29AA4B89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560" y="228600"/>
            <a:ext cx="501948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Planning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>
            <a:extLst>
              <a:ext uri="{FF2B5EF4-FFF2-40B4-BE49-F238E27FC236}">
                <a16:creationId xmlns:a16="http://schemas.microsoft.com/office/drawing/2014/main" id="{D19DDE67-3443-439E-FC53-699B9211A43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21406" y="1447920"/>
            <a:ext cx="3993634" cy="309315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r>
              <a:rPr lang="nl-BE" sz="2000" dirty="0"/>
              <a:t> Januari:</a:t>
            </a:r>
          </a:p>
          <a:p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/>
              <a:t>Week 1: Login &amp; registratie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/>
              <a:t>Week 2: CRUD-modules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/>
              <a:t>Week 3: </a:t>
            </a:r>
            <a:r>
              <a:rPr lang="nl-BE" sz="2000" dirty="0" err="1"/>
              <a:t>Validaties</a:t>
            </a:r>
            <a:r>
              <a:rPr lang="nl-BE" sz="2000" dirty="0"/>
              <a:t> + </a:t>
            </a:r>
            <a:r>
              <a:rPr lang="nl-BE" sz="2000" dirty="0" err="1"/>
              <a:t>errors</a:t>
            </a: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/>
              <a:t>Week 4: Integratie front-end ↔ database</a:t>
            </a:r>
            <a:endParaRPr lang="nl-BE" dirty="0"/>
          </a:p>
          <a:p>
            <a:pPr indent="0" algn="ctr">
              <a:buNone/>
            </a:pP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Catamaran"/>
              <a:ea typeface="Catamaran"/>
            </a:endParaRPr>
          </a:p>
        </p:txBody>
      </p:sp>
      <p:cxnSp>
        <p:nvCxnSpPr>
          <p:cNvPr id="73" name="Google Shape;192;p29">
            <a:extLst>
              <a:ext uri="{FF2B5EF4-FFF2-40B4-BE49-F238E27FC236}">
                <a16:creationId xmlns:a16="http://schemas.microsoft.com/office/drawing/2014/main" id="{FD5D7917-67CA-E27F-1963-5001E7740B6B}"/>
              </a:ext>
            </a:extLst>
          </p:cNvPr>
          <p:cNvCxnSpPr/>
          <p:nvPr/>
        </p:nvCxnSpPr>
        <p:spPr>
          <a:xfrm>
            <a:off x="5100480" y="1293120"/>
            <a:ext cx="37317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4" name="Afbeelding 3" descr="Afbeelding met tekst, schermopname, Lettertype, menu&#10;&#10;Door AI gegenereerde inhoud is mogelijk onjuist.">
            <a:extLst>
              <a:ext uri="{FF2B5EF4-FFF2-40B4-BE49-F238E27FC236}">
                <a16:creationId xmlns:a16="http://schemas.microsoft.com/office/drawing/2014/main" id="{8EE3134A-DE45-5475-992B-3C66D2016B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331"/>
            <a:ext cx="4804696" cy="348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9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58C07-665D-8CAE-01D0-52F0A8C6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560AF7E2-D2F0-A928-7DDD-49A5C1BEB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560" y="228600"/>
            <a:ext cx="501948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Planning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>
            <a:extLst>
              <a:ext uri="{FF2B5EF4-FFF2-40B4-BE49-F238E27FC236}">
                <a16:creationId xmlns:a16="http://schemas.microsoft.com/office/drawing/2014/main" id="{977CB156-516F-5714-9555-CFEE6422B79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21406" y="1447920"/>
            <a:ext cx="3993634" cy="309315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r>
              <a:rPr lang="nl-BE" sz="2000" dirty="0"/>
              <a:t>Februari:</a:t>
            </a:r>
          </a:p>
          <a:p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Week 1: UI &amp; </a:t>
            </a:r>
            <a:r>
              <a:rPr lang="nl-NL" sz="2000" dirty="0" err="1"/>
              <a:t>layout</a:t>
            </a:r>
            <a:endParaRPr lang="nl-NL" sz="2000" dirty="0"/>
          </a:p>
          <a:p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Week 2: functies</a:t>
            </a:r>
          </a:p>
          <a:p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Week 3: Rollen &amp; rechten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Week 4: Testdata + optimalisatie</a:t>
            </a:r>
          </a:p>
          <a:p>
            <a:pPr indent="0" algn="ctr">
              <a:buNone/>
            </a:pP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Catamaran"/>
              <a:ea typeface="Catamaran"/>
            </a:endParaRPr>
          </a:p>
        </p:txBody>
      </p:sp>
      <p:cxnSp>
        <p:nvCxnSpPr>
          <p:cNvPr id="73" name="Google Shape;192;p29">
            <a:extLst>
              <a:ext uri="{FF2B5EF4-FFF2-40B4-BE49-F238E27FC236}">
                <a16:creationId xmlns:a16="http://schemas.microsoft.com/office/drawing/2014/main" id="{CB529C39-7452-15DD-2DC1-5488E47DFAAE}"/>
              </a:ext>
            </a:extLst>
          </p:cNvPr>
          <p:cNvCxnSpPr/>
          <p:nvPr/>
        </p:nvCxnSpPr>
        <p:spPr>
          <a:xfrm>
            <a:off x="5100480" y="1293120"/>
            <a:ext cx="37317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4" name="Afbeelding 3" descr="Afbeelding met tekst, schermopname, Lettertype, menu&#10;&#10;Door AI gegenereerde inhoud is mogelijk onjuist.">
            <a:extLst>
              <a:ext uri="{FF2B5EF4-FFF2-40B4-BE49-F238E27FC236}">
                <a16:creationId xmlns:a16="http://schemas.microsoft.com/office/drawing/2014/main" id="{F9DF21BA-17B8-C2A5-9244-EB391079C3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153"/>
            <a:ext cx="4804696" cy="348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21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57CB-8288-9A81-C39B-F4C4A4260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01BBF47D-CCD3-EE86-2B93-331C8BC0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560" y="228600"/>
            <a:ext cx="5019480" cy="106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Planning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>
            <a:extLst>
              <a:ext uri="{FF2B5EF4-FFF2-40B4-BE49-F238E27FC236}">
                <a16:creationId xmlns:a16="http://schemas.microsoft.com/office/drawing/2014/main" id="{B54C5B3A-879C-52CD-254A-31B9B4D1772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21406" y="1447920"/>
            <a:ext cx="3993634" cy="331475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r>
              <a:rPr lang="nl-BE" sz="1400" dirty="0"/>
              <a:t> </a:t>
            </a:r>
            <a:r>
              <a:rPr lang="nl-BE" sz="2000" dirty="0"/>
              <a:t>Maart:</a:t>
            </a:r>
          </a:p>
          <a:p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Week 1: Afwerking ontbrekende functies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/>
              <a:t>Week 2: Code herstructureren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/>
              <a:t>Week 3:Integratietests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/>
              <a:t>Week 4: Voorbereiding testfase</a:t>
            </a: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Catamaran"/>
              <a:ea typeface="Catamaran"/>
            </a:endParaRPr>
          </a:p>
        </p:txBody>
      </p:sp>
      <p:cxnSp>
        <p:nvCxnSpPr>
          <p:cNvPr id="73" name="Google Shape;192;p29">
            <a:extLst>
              <a:ext uri="{FF2B5EF4-FFF2-40B4-BE49-F238E27FC236}">
                <a16:creationId xmlns:a16="http://schemas.microsoft.com/office/drawing/2014/main" id="{A597DD4F-4DC6-768F-6ABF-0046A48BB9DE}"/>
              </a:ext>
            </a:extLst>
          </p:cNvPr>
          <p:cNvCxnSpPr/>
          <p:nvPr/>
        </p:nvCxnSpPr>
        <p:spPr>
          <a:xfrm>
            <a:off x="5100480" y="1293120"/>
            <a:ext cx="37317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4" name="Afbeelding 3" descr="Afbeelding met tekst, schermopname, Lettertype, menu&#10;&#10;Door AI gegenereerde inhoud is mogelijk onjuist.">
            <a:extLst>
              <a:ext uri="{FF2B5EF4-FFF2-40B4-BE49-F238E27FC236}">
                <a16:creationId xmlns:a16="http://schemas.microsoft.com/office/drawing/2014/main" id="{5B4776B8-0498-2CBB-EF25-7C5D730E9C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331"/>
            <a:ext cx="4804696" cy="348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19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000" b="1" dirty="0" err="1">
                <a:solidFill>
                  <a:schemeClr val="dk1"/>
                </a:solidFill>
                <a:latin typeface="Rethink Sans"/>
                <a:ea typeface="Rethink Sans"/>
              </a:rPr>
              <a:t>F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uncties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6" name="Google Shape;206;p31"/>
          <p:cNvPicPr/>
          <p:nvPr/>
        </p:nvPicPr>
        <p:blipFill>
          <a:blip r:embed="rId2"/>
          <a:srcRect l="14301" r="14301"/>
          <a:stretch/>
        </p:blipFill>
        <p:spPr>
          <a:xfrm>
            <a:off x="313920" y="1400040"/>
            <a:ext cx="37648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7" name="Google Shape;207;p31"/>
          <p:cNvCxnSpPr/>
          <p:nvPr/>
        </p:nvCxnSpPr>
        <p:spPr>
          <a:xfrm>
            <a:off x="313560" y="957240"/>
            <a:ext cx="85186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C49026C-5528-1862-B4C4-BA3D3BEDCFC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610100" y="1741428"/>
            <a:ext cx="453390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Taken aanmaken, bewerken en verwijderen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nl-BE" altLang="nl-BE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nl-BE" altLang="nl-B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Deadline instellen per taak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altLang="nl-B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Overzicht van taken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nl-BE" altLang="nl-B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nl-BE" altLang="nl-BE" sz="1600" dirty="0">
                <a:latin typeface="Arial" panose="020B0604020202020204" pitchFamily="34" charset="0"/>
              </a:rPr>
              <a:t> S</a:t>
            </a:r>
            <a:r>
              <a:rPr kumimoji="0" lang="nl-BE" altLang="nl-B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-849352" y="-211124"/>
            <a:ext cx="3438000" cy="7750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Wireframes 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3" name="Afbeelding 2" descr="Afbeelding met tekst, grafische vormgeving, schermopname, Graphics&#10;&#10;Door AI gegenereerde inhoud is mogelijk onjuist.">
            <a:extLst>
              <a:ext uri="{FF2B5EF4-FFF2-40B4-BE49-F238E27FC236}">
                <a16:creationId xmlns:a16="http://schemas.microsoft.com/office/drawing/2014/main" id="{E82DAE0E-FE51-5A9F-5542-882FBD4509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0" y="424646"/>
            <a:ext cx="3991498" cy="2245217"/>
          </a:xfrm>
          <a:prstGeom prst="rect">
            <a:avLst/>
          </a:prstGeom>
        </p:spPr>
      </p:pic>
      <p:pic>
        <p:nvPicPr>
          <p:cNvPr id="5" name="Afbeelding 4" descr="Afbeelding met tekst, schermopname, Lettertype, Merk&#10;&#10;Door AI gegenereerde inhoud is mogelijk onjuist.">
            <a:extLst>
              <a:ext uri="{FF2B5EF4-FFF2-40B4-BE49-F238E27FC236}">
                <a16:creationId xmlns:a16="http://schemas.microsoft.com/office/drawing/2014/main" id="{9E94FC9F-9BB1-1BE6-2393-2356B6E644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64" y="424646"/>
            <a:ext cx="3988937" cy="2243777"/>
          </a:xfrm>
          <a:prstGeom prst="rect">
            <a:avLst/>
          </a:prstGeom>
        </p:spPr>
      </p:pic>
      <p:pic>
        <p:nvPicPr>
          <p:cNvPr id="9" name="Afbeelding 8" descr="Afbeelding met tekst, schermopname, ontwerp&#10;&#10;Door AI gegenereerde inhoud is mogelijk onjuist.">
            <a:extLst>
              <a:ext uri="{FF2B5EF4-FFF2-40B4-BE49-F238E27FC236}">
                <a16:creationId xmlns:a16="http://schemas.microsoft.com/office/drawing/2014/main" id="{E0A92F4F-7846-4CC5-EFFF-5B1CF9C6CC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0" y="2815712"/>
            <a:ext cx="3991497" cy="2245217"/>
          </a:xfrm>
          <a:prstGeom prst="rect">
            <a:avLst/>
          </a:prstGeom>
        </p:spPr>
      </p:pic>
      <p:pic>
        <p:nvPicPr>
          <p:cNvPr id="11" name="Afbeelding 10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09836C25-3A2A-3DFE-8C80-70B967880C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64" y="2815712"/>
            <a:ext cx="3988937" cy="2243777"/>
          </a:xfrm>
          <a:prstGeom prst="rect">
            <a:avLst/>
          </a:prstGeom>
        </p:spPr>
      </p:pic>
      <p:pic>
        <p:nvPicPr>
          <p:cNvPr id="4" name="Afbeelding 3" descr="Afbeelding met tekst, schermopname, Lettertype, Merk&#10;&#10;Door AI gegenereerde inhoud is mogelijk onjuist.">
            <a:extLst>
              <a:ext uri="{FF2B5EF4-FFF2-40B4-BE49-F238E27FC236}">
                <a16:creationId xmlns:a16="http://schemas.microsoft.com/office/drawing/2014/main" id="{5330C97F-5194-8A2A-3CDC-9679AFD9D8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64" y="2815712"/>
            <a:ext cx="4044176" cy="22748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80B5-FE55-093A-85C4-2EC37323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09858B46-3753-1AA4-14EF-03961614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9352" y="-211124"/>
            <a:ext cx="3793274" cy="7750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Wireframes  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Google Shape;199;p30">
            <a:extLst>
              <a:ext uri="{FF2B5EF4-FFF2-40B4-BE49-F238E27FC236}">
                <a16:creationId xmlns:a16="http://schemas.microsoft.com/office/drawing/2014/main" id="{7F1B31BF-E125-A32C-B9E9-C99B63435AF5}"/>
              </a:ext>
            </a:extLst>
          </p:cNvPr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3" name="Afbeelding 2" descr="Afbeelding met tekst, grafische vormgeving, schermopname, Graphics&#10;&#10;Door AI gegenereerde inhoud is mogelijk onjuist.">
            <a:extLst>
              <a:ext uri="{FF2B5EF4-FFF2-40B4-BE49-F238E27FC236}">
                <a16:creationId xmlns:a16="http://schemas.microsoft.com/office/drawing/2014/main" id="{89780DCC-BA68-BDBD-6C72-C9B646EE36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0" y="424646"/>
            <a:ext cx="3991498" cy="2245217"/>
          </a:xfrm>
          <a:prstGeom prst="rect">
            <a:avLst/>
          </a:prstGeom>
        </p:spPr>
      </p:pic>
      <p:pic>
        <p:nvPicPr>
          <p:cNvPr id="5" name="Afbeelding 4" descr="Afbeelding met tekst, schermopname, Lettertype, Merk&#10;&#10;Door AI gegenereerde inhoud is mogelijk onjuist.">
            <a:extLst>
              <a:ext uri="{FF2B5EF4-FFF2-40B4-BE49-F238E27FC236}">
                <a16:creationId xmlns:a16="http://schemas.microsoft.com/office/drawing/2014/main" id="{18654B28-89FA-7AC1-5C3A-067D390FC7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664" y="424646"/>
            <a:ext cx="3988937" cy="2243777"/>
          </a:xfrm>
          <a:prstGeom prst="rect">
            <a:avLst/>
          </a:prstGeom>
        </p:spPr>
      </p:pic>
      <p:pic>
        <p:nvPicPr>
          <p:cNvPr id="4" name="Afbeelding 3" descr="Afbeelding met tekst, schermopname, software, Besturingssysteem&#10;&#10;Door AI gegenereerde inhoud is mogelijk onjuist.">
            <a:extLst>
              <a:ext uri="{FF2B5EF4-FFF2-40B4-BE49-F238E27FC236}">
                <a16:creationId xmlns:a16="http://schemas.microsoft.com/office/drawing/2014/main" id="{F9449F8B-D930-9C3F-7818-7C2C562E25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0" y="2802133"/>
            <a:ext cx="3991497" cy="2245217"/>
          </a:xfrm>
          <a:prstGeom prst="rect">
            <a:avLst/>
          </a:prstGeom>
        </p:spPr>
      </p:pic>
      <p:pic>
        <p:nvPicPr>
          <p:cNvPr id="7" name="Afbeelding 6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D1339B83-EA23-61D8-A8EA-B3AC6B1173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103" y="424646"/>
            <a:ext cx="3991498" cy="2245218"/>
          </a:xfrm>
          <a:prstGeom prst="rect">
            <a:avLst/>
          </a:prstGeom>
        </p:spPr>
      </p:pic>
      <p:pic>
        <p:nvPicPr>
          <p:cNvPr id="2" name="Afbeelding 1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E94D3E67-F068-45FC-DB49-8D6DF74FC7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00" y="432696"/>
            <a:ext cx="3988937" cy="2243777"/>
          </a:xfrm>
          <a:prstGeom prst="rect">
            <a:avLst/>
          </a:prstGeom>
        </p:spPr>
      </p:pic>
      <p:pic>
        <p:nvPicPr>
          <p:cNvPr id="8" name="Afbeelding 7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0CEB94EC-58A8-799B-63A8-0377718E48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103" y="2802133"/>
            <a:ext cx="3991498" cy="224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779E-BE21-20CB-7568-A570106E5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8DD4E3FB-5C3A-7721-2C1F-485E1B8D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6763" y="94576"/>
            <a:ext cx="2559206" cy="7750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ERD 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Google Shape;199;p30">
            <a:extLst>
              <a:ext uri="{FF2B5EF4-FFF2-40B4-BE49-F238E27FC236}">
                <a16:creationId xmlns:a16="http://schemas.microsoft.com/office/drawing/2014/main" id="{AFF1B360-A7D7-92DC-EDC7-BFACBAA2CE54}"/>
              </a:ext>
            </a:extLst>
          </p:cNvPr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13" name="Afbeelding 12" descr="Afbeelding met tekst, schermopname, Lettertype, diagram&#10;&#10;Door AI gegenereerde inhoud is mogelijk onjuist.">
            <a:extLst>
              <a:ext uri="{FF2B5EF4-FFF2-40B4-BE49-F238E27FC236}">
                <a16:creationId xmlns:a16="http://schemas.microsoft.com/office/drawing/2014/main" id="{3924F948-56E3-8419-E171-E0531D58A8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51" y="972765"/>
            <a:ext cx="4672573" cy="3301149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4162CE54-C01D-0641-54B5-7F72C5F5748C}"/>
              </a:ext>
            </a:extLst>
          </p:cNvPr>
          <p:cNvSpPr txBox="1"/>
          <p:nvPr/>
        </p:nvSpPr>
        <p:spPr>
          <a:xfrm>
            <a:off x="5389756" y="1590908"/>
            <a:ext cx="27878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 err="1"/>
              <a:t>Primary</a:t>
            </a:r>
            <a:r>
              <a:rPr lang="nl-BE" sz="2000" dirty="0"/>
              <a:t> </a:t>
            </a:r>
            <a:r>
              <a:rPr lang="nl-BE" sz="2000" dirty="0" err="1"/>
              <a:t>Key</a:t>
            </a:r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 err="1"/>
              <a:t>Foreign</a:t>
            </a:r>
            <a:r>
              <a:rPr lang="nl-BE" sz="2000" dirty="0"/>
              <a:t> </a:t>
            </a:r>
            <a:r>
              <a:rPr lang="nl-BE" sz="2000" dirty="0" err="1"/>
              <a:t>Key</a:t>
            </a:r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Relatie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CRUD</a:t>
            </a:r>
          </a:p>
        </p:txBody>
      </p:sp>
    </p:spTree>
    <p:extLst>
      <p:ext uri="{BB962C8B-B14F-4D97-AF65-F5344CB8AC3E}">
        <p14:creationId xmlns:p14="http://schemas.microsoft.com/office/powerpoint/2010/main" val="3923854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-348858" y="83820"/>
            <a:ext cx="3438000" cy="78987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4000" b="1" dirty="0" err="1">
                <a:solidFill>
                  <a:schemeClr val="dk1"/>
                </a:solidFill>
                <a:latin typeface="Rethink Sans"/>
              </a:rPr>
              <a:t>Samenvatting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86040" y="699859"/>
            <a:ext cx="4485960" cy="430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sz="2600" b="1" dirty="0"/>
              <a:t>Probleemstelling en doel van het project</a:t>
            </a:r>
          </a:p>
          <a:p>
            <a:pPr marL="514350" indent="-514350">
              <a:buAutoNum type="arabicPeriod"/>
            </a:pPr>
            <a:endParaRPr lang="nl-NL" sz="2600" dirty="0"/>
          </a:p>
          <a:p>
            <a:r>
              <a:rPr lang="nl-NL" sz="2600" dirty="0"/>
              <a:t>   	- Wat wil de applicatie oplossen?</a:t>
            </a:r>
          </a:p>
          <a:p>
            <a:endParaRPr lang="nl-NL" sz="2600" dirty="0"/>
          </a:p>
          <a:p>
            <a:r>
              <a:rPr lang="nl-NL" sz="2600" dirty="0"/>
              <a:t>   	- Voor wie maak je dit?</a:t>
            </a:r>
          </a:p>
          <a:p>
            <a:endParaRPr lang="nl-NL" sz="2600" dirty="0"/>
          </a:p>
          <a:p>
            <a:endParaRPr lang="nl-NL" sz="2600" dirty="0"/>
          </a:p>
          <a:p>
            <a:r>
              <a:rPr lang="nl-NL" sz="2600" dirty="0"/>
              <a:t>2. </a:t>
            </a:r>
            <a:r>
              <a:rPr lang="nl-NL" sz="2600" b="1" dirty="0"/>
              <a:t>      Functionele analyse</a:t>
            </a:r>
          </a:p>
          <a:p>
            <a:endParaRPr lang="nl-NL" sz="2600" dirty="0"/>
          </a:p>
          <a:p>
            <a:r>
              <a:rPr lang="nl-NL" sz="2600" dirty="0"/>
              <a:t>   	- Overzicht van de gewenste functies.</a:t>
            </a:r>
          </a:p>
          <a:p>
            <a:endParaRPr lang="nl-NL" sz="2600" dirty="0"/>
          </a:p>
          <a:p>
            <a:endParaRPr lang="nl-NL" sz="2600" dirty="0"/>
          </a:p>
          <a:p>
            <a:r>
              <a:rPr lang="nl-NL" sz="2600" dirty="0"/>
              <a:t>3. </a:t>
            </a:r>
            <a:r>
              <a:rPr lang="nl-NL" sz="2600" b="1" dirty="0"/>
              <a:t>      Datamodel</a:t>
            </a:r>
          </a:p>
          <a:p>
            <a:endParaRPr lang="nl-NL" sz="2600" dirty="0"/>
          </a:p>
          <a:p>
            <a:r>
              <a:rPr lang="nl-NL" sz="2600" dirty="0"/>
              <a:t>   	- ERD met tabellen, relaties, PK/FK.</a:t>
            </a:r>
          </a:p>
          <a:p>
            <a:endParaRPr lang="nl-NL" sz="2600" dirty="0"/>
          </a:p>
          <a:p>
            <a:endParaRPr lang="nl-NL" sz="2600" dirty="0"/>
          </a:p>
          <a:p>
            <a:r>
              <a:rPr lang="nl-NL" sz="2600" dirty="0"/>
              <a:t>4.       </a:t>
            </a:r>
            <a:r>
              <a:rPr lang="nl-NL" sz="2600" b="1" dirty="0"/>
              <a:t>Ontwerp</a:t>
            </a:r>
          </a:p>
          <a:p>
            <a:endParaRPr lang="nl-NL" sz="2600" dirty="0"/>
          </a:p>
          <a:p>
            <a:r>
              <a:rPr lang="nl-NL" sz="2600" dirty="0"/>
              <a:t>   	- </a:t>
            </a:r>
            <a:r>
              <a:rPr lang="nl-NL" sz="2600" dirty="0" err="1"/>
              <a:t>Wireframes</a:t>
            </a:r>
            <a:r>
              <a:rPr lang="nl-NL" sz="2600" dirty="0"/>
              <a:t> (schets van schermen).</a:t>
            </a:r>
          </a:p>
          <a:p>
            <a:endParaRPr lang="nl-NL" sz="2600" dirty="0"/>
          </a:p>
          <a:p>
            <a:endParaRPr lang="nl-NL" sz="2600" dirty="0"/>
          </a:p>
          <a:p>
            <a:r>
              <a:rPr lang="nl-NL" sz="2600" dirty="0"/>
              <a:t>5. </a:t>
            </a:r>
            <a:r>
              <a:rPr lang="nl-NL" sz="2600" b="1" dirty="0"/>
              <a:t>       Planning</a:t>
            </a:r>
          </a:p>
          <a:p>
            <a:endParaRPr lang="nl-NL" sz="2600" dirty="0"/>
          </a:p>
          <a:p>
            <a:r>
              <a:rPr lang="nl-NL" sz="2600" dirty="0"/>
              <a:t>   	- Overzicht van taken en timing.</a:t>
            </a:r>
          </a:p>
          <a:p>
            <a:br>
              <a:rPr lang="nl-NL" dirty="0"/>
            </a:br>
            <a:endParaRPr lang="nl-NL" dirty="0"/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86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3" name="Afbeelding 2" descr="Afbeelding met Rechthoek, muur&#10;&#10;Door AI gegenereerde inhoud is mogelijk onjuist.">
            <a:extLst>
              <a:ext uri="{FF2B5EF4-FFF2-40B4-BE49-F238E27FC236}">
                <a16:creationId xmlns:a16="http://schemas.microsoft.com/office/drawing/2014/main" id="{3B4D7763-37E2-93F2-CBD5-5087524A3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034" y="1461269"/>
            <a:ext cx="4718146" cy="31454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lectric Field Concepts by Slidesgo">
  <a:themeElements>
    <a:clrScheme name="Simple Light">
      <a:dk1>
        <a:srgbClr val="FFFFFF"/>
      </a:dk1>
      <a:lt1>
        <a:srgbClr val="0C0E1D"/>
      </a:lt1>
      <a:dk2>
        <a:srgbClr val="FFFFFF"/>
      </a:dk2>
      <a:lt2>
        <a:srgbClr val="FFFFFF"/>
      </a:lt2>
      <a:accent1>
        <a:srgbClr val="708CB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268</Words>
  <Application>Microsoft Office PowerPoint</Application>
  <PresentationFormat>Diavoorstelling (16:9)</PresentationFormat>
  <Paragraphs>124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13</vt:i4>
      </vt:variant>
    </vt:vector>
  </HeadingPairs>
  <TitlesOfParts>
    <vt:vector size="21" baseType="lpstr">
      <vt:lpstr>Arial</vt:lpstr>
      <vt:lpstr>Catamaran</vt:lpstr>
      <vt:lpstr>OpenSymbol</vt:lpstr>
      <vt:lpstr>Rethink Sans</vt:lpstr>
      <vt:lpstr>Symbol</vt:lpstr>
      <vt:lpstr>Wingdings</vt:lpstr>
      <vt:lpstr>Electric Field Concepts by Slidesgo</vt:lpstr>
      <vt:lpstr>Slidesgo Final Pages</vt:lpstr>
      <vt:lpstr>Student Tracker</vt:lpstr>
      <vt:lpstr>Inleiding</vt:lpstr>
      <vt:lpstr>Probleemstelling</vt:lpstr>
      <vt:lpstr>Doel van de applicatie</vt:lpstr>
      <vt:lpstr>Doelgroep</vt:lpstr>
      <vt:lpstr>Planning</vt:lpstr>
      <vt:lpstr>Planning</vt:lpstr>
      <vt:lpstr>Planning</vt:lpstr>
      <vt:lpstr>Functies</vt:lpstr>
      <vt:lpstr>Wireframes </vt:lpstr>
      <vt:lpstr>Wireframes  </vt:lpstr>
      <vt:lpstr>ERD </vt:lpstr>
      <vt:lpstr>Samenvatting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Raf Angeli</dc:creator>
  <cp:lastModifiedBy>Raf Angeli</cp:lastModifiedBy>
  <cp:revision>4</cp:revision>
  <dcterms:modified xsi:type="dcterms:W3CDTF">2026-06-08T08:47:02Z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2025-11-25T08:09:22Z</dcterms:created>
  <dc:creator>Unknown Creator</dc:creator>
  <dc:description/>
  <dc:language>en-US</dc:language>
  <cp:lastModifiedBy>Unknown Creator</cp:lastModifiedBy>
  <dcterms:modified xsi:type="dcterms:W3CDTF">2025-11-25T08:09:22Z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